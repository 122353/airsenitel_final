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9ef1952b64d00" /><Relationship Type="http://schemas.openxmlformats.org/officeDocument/2006/relationships/extended-properties" Target="/docProps/app.xml" Id="R8bdeee18e0134b44" /><Relationship Type="http://schemas.openxmlformats.org/officeDocument/2006/relationships/officeDocument" Target="/ppt/presentation.xml" Id="R8dac2bb973ab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3ff5d2e7d9444c"/>
  </p:sldMasterIdLst>
  <p:notesMasterIdLst>
    <p:notesMasterId xmlns:r="http://schemas.openxmlformats.org/officeDocument/2006/relationships" r:id="R0752b5bae8b447ff"/>
  </p:notesMasterIdLst>
  <p:sldIdLst>
    <p:sldId xmlns:r="http://schemas.openxmlformats.org/officeDocument/2006/relationships" id="256" r:id="R7c07ba3be1a8496a"/>
    <p:sldId xmlns:r="http://schemas.openxmlformats.org/officeDocument/2006/relationships" id="257" r:id="R3b500c8a27e84dd0"/>
    <p:sldId xmlns:r="http://schemas.openxmlformats.org/officeDocument/2006/relationships" id="258" r:id="R6e3e180805564f41"/>
    <p:sldId xmlns:r="http://schemas.openxmlformats.org/officeDocument/2006/relationships" id="259" r:id="R88ab252a997b49f4"/>
    <p:sldId xmlns:r="http://schemas.openxmlformats.org/officeDocument/2006/relationships" id="260" r:id="Rbaa9dd29c8b14ee7"/>
    <p:sldId xmlns:r="http://schemas.openxmlformats.org/officeDocument/2006/relationships" id="261" r:id="R49fb3898d5ac4ce2"/>
    <p:sldId xmlns:r="http://schemas.openxmlformats.org/officeDocument/2006/relationships" id="262" r:id="R28a853e7f11242a6"/>
    <p:sldId xmlns:r="http://schemas.openxmlformats.org/officeDocument/2006/relationships" id="263" r:id="R586cc397c1a344cf"/>
    <p:sldId xmlns:r="http://schemas.openxmlformats.org/officeDocument/2006/relationships" id="264" r:id="R371863535fc7433a"/>
    <p:sldId xmlns:r="http://schemas.openxmlformats.org/officeDocument/2006/relationships" id="265" r:id="R4b502a97a4fc4b9f"/>
    <p:sldId xmlns:r="http://schemas.openxmlformats.org/officeDocument/2006/relationships" id="266" r:id="R229585bdfa184e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901cff81404fc9" /><Relationship Type="http://schemas.openxmlformats.org/officeDocument/2006/relationships/slideMaster" Target="/ppt/slideMasters/slideMaster1.xml" Id="R3d3ff5d2e7d9444c" /><Relationship Type="http://schemas.openxmlformats.org/officeDocument/2006/relationships/notesMaster" Target="/ppt/notesMasters/notesMaster1.xml" Id="R0752b5bae8b447ff" /><Relationship Type="http://schemas.openxmlformats.org/officeDocument/2006/relationships/presProps" Target="/ppt/presProps.xml" Id="R5e5bd4196df946a5" /><Relationship Type="http://schemas.openxmlformats.org/officeDocument/2006/relationships/tableStyles" Target="/ppt/tableStyles.xml" Id="Re803874074a84c13" /><Relationship Type="http://schemas.openxmlformats.org/officeDocument/2006/relationships/slide" Target="/ppt/slides/slide1.xml" Id="R7c07ba3be1a8496a" /><Relationship Type="http://schemas.openxmlformats.org/officeDocument/2006/relationships/slide" Target="/ppt/slides/slide2.xml" Id="R3b500c8a27e84dd0" /><Relationship Type="http://schemas.openxmlformats.org/officeDocument/2006/relationships/slide" Target="/ppt/slides/slide3.xml" Id="R6e3e180805564f41" /><Relationship Type="http://schemas.openxmlformats.org/officeDocument/2006/relationships/slide" Target="/ppt/slides/slide4.xml" Id="R88ab252a997b49f4" /><Relationship Type="http://schemas.openxmlformats.org/officeDocument/2006/relationships/slide" Target="/ppt/slides/slide5.xml" Id="Rbaa9dd29c8b14ee7" /><Relationship Type="http://schemas.openxmlformats.org/officeDocument/2006/relationships/slide" Target="/ppt/slides/slide6.xml" Id="R49fb3898d5ac4ce2" /><Relationship Type="http://schemas.openxmlformats.org/officeDocument/2006/relationships/slide" Target="/ppt/slides/slide7.xml" Id="R28a853e7f11242a6" /><Relationship Type="http://schemas.openxmlformats.org/officeDocument/2006/relationships/slide" Target="/ppt/slides/slide8.xml" Id="R586cc397c1a344cf" /><Relationship Type="http://schemas.openxmlformats.org/officeDocument/2006/relationships/slide" Target="/ppt/slides/slide9.xml" Id="R371863535fc7433a" /><Relationship Type="http://schemas.openxmlformats.org/officeDocument/2006/relationships/slide" Target="/ppt/slides/slide10.xml" Id="R4b502a97a4fc4b9f" /><Relationship Type="http://schemas.openxmlformats.org/officeDocument/2006/relationships/slide" Target="/ppt/slides/slide11.xml" Id="R229585bdfa184e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bda63c002749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cd516d47b4080" /><Relationship Type="http://schemas.openxmlformats.org/officeDocument/2006/relationships/notesMaster" Target="/ppt/notesMasters/notesMaster1.xml" Id="Recdafc43d821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fb0371c3014cac" /><Relationship Type="http://schemas.openxmlformats.org/officeDocument/2006/relationships/notesMaster" Target="/ppt/notesMasters/notesMaster1.xml" Id="R1d6c8d2e5e3444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395369990945db" /><Relationship Type="http://schemas.openxmlformats.org/officeDocument/2006/relationships/notesMaster" Target="/ppt/notesMasters/notesMaster1.xml" Id="R3a3751be24d44d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77f5ea0ac4e11" /><Relationship Type="http://schemas.openxmlformats.org/officeDocument/2006/relationships/notesMaster" Target="/ppt/notesMasters/notesMaster1.xml" Id="R8f0b4e872698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c1aabd912c400a" /><Relationship Type="http://schemas.openxmlformats.org/officeDocument/2006/relationships/notesMaster" Target="/ppt/notesMasters/notesMaster1.xml" Id="R8ff65d4dce1946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6f2cc7af549ac" /><Relationship Type="http://schemas.openxmlformats.org/officeDocument/2006/relationships/notesMaster" Target="/ppt/notesMasters/notesMaster1.xml" Id="R5a74929a757a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861c4c248d4e12" /><Relationship Type="http://schemas.openxmlformats.org/officeDocument/2006/relationships/notesMaster" Target="/ppt/notesMasters/notesMaster1.xml" Id="R2136cd1726ef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ec0b4aa6074686" /><Relationship Type="http://schemas.openxmlformats.org/officeDocument/2006/relationships/notesMaster" Target="/ppt/notesMasters/notesMaster1.xml" Id="Rcaf53e67accd4d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e1c74d7184c5a" /><Relationship Type="http://schemas.openxmlformats.org/officeDocument/2006/relationships/notesMaster" Target="/ppt/notesMasters/notesMaster1.xml" Id="R57801e68f91e4e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f51a191b4c435d" /><Relationship Type="http://schemas.openxmlformats.org/officeDocument/2006/relationships/notesMaster" Target="/ppt/notesMasters/notesMaster1.xml" Id="R8968370b0f6648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ff85e48c8e4a64" /><Relationship Type="http://schemas.openxmlformats.org/officeDocument/2006/relationships/notesMaster" Target="/ppt/notesMasters/notesMaster1.xml" Id="Rd6a4865d9aea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governments receive many city-level signals, but local response depends on evidence quality, timeliness and accountable review. AirSentinel connects those steps without pretending that a model can prove a source or authorize enforcement.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an operational evidence gap. AirSentinel targets locality-to-corridor coordination while keeping final decisions with accountable reviewers.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complete loop. Stress that the guardrail is part of the product: forecasts and Gemini explanations are decision-support, not legal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official CPCB/data.gov.in route is the operational target. The current 182-day locality backfill is OpenAQ-derived fallback data and remains labelled as such. Community and satellite streams corroborate; they do not silently replace regulatory measurements.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https://www.data.gov.in/catalog/real-time-air-quality-index</a:t>
            </a:r>
          </a:p>
          <a:p xmlns:a="http://schemas.openxmlformats.org/drawingml/2006/main">
            <a:r>
              <a:t>- https://docs.openaq.org/resources/measurements</a:t>
            </a:r>
          </a:p>
          <a:p xmlns:a="http://schemas.openxmlformats.org/drawingml/2006/main">
            <a:r>
              <a:t>- https://docs.openaq.org/api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exact stored metrics. Explain the distinction between model-development readiness and operational readiness. Do not call this feed CPCB or official.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https://docs.openaq.org/resources/measurements</a:t>
            </a:r>
          </a:p>
          <a:p xmlns:a="http://schemas.openxmlformats.org/drawingml/2006/main">
            <a:r>
              <a:t>- https://www.data.gov.in/catalog/real-time-air-quality-index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why an unexpected parali, dust or industrial spike is not a fatal failure: the residual creates a review case. The platform can suggest evidence to collect, but it cannot identify the true source without corroboration.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paths are intentionally feature-gated. Cloud Run private authentication and Secret Manager references are part of the deployment scripts. Firebase rules deny direct client access until an approved schema and backend path are configured.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https://docs.cloud.google.com/run/docs/authenticating/overview</a:t>
            </a:r>
          </a:p>
          <a:p xmlns:a="http://schemas.openxmlformats.org/drawingml/2006/main">
            <a:r>
              <a:t>- https://docs.cloud.google.com/run/docs/configuring/services/secrets</a:t>
            </a:r>
          </a:p>
          <a:p xmlns:a="http://schemas.openxmlformats.org/drawingml/2006/main">
            <a:r>
              <a:t>- https://firebase.google.com/docs/rules/rules-and-auth</a:t>
            </a:r>
          </a:p>
          <a:p xmlns:a="http://schemas.openxmlformats.org/drawingml/2006/main">
            <a:r>
              <a:t>- https://ai.google.dev/gemini-api/docs/image-understanding</a:t>
            </a:r>
          </a:p>
          <a:p xmlns:a="http://schemas.openxmlformats.org/drawingml/2006/main">
            <a:r>
              <a:t>- https://developers.google.com/earth-engine/datasets/catalog/COPERNICUS_S5P_OFFL_L3_NO2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citizen app using sample data only. Emphasise consent, metadata, moderation and the distinction between evidence and an official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https://firebase.google.com/docs/rules/rules-and-auth</a:t>
            </a:r>
          </a:p>
          <a:p xmlns:a="http://schemas.openxmlformats.org/drawingml/2006/main">
            <a:r>
              <a:t>- https://ai.google.dev/gemini-api/docs/image-understanding</a:t>
            </a:r>
          </a:p>
          <a:p xmlns:a="http://schemas.openxmlformats.org/drawingml/2006/main">
            <a:r>
              <a:t>- https://docs.cloud.google.com/translate/docs/basic/translating-text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authority dashboard as a private workflow demo. The production gate rejects unsafe configuration. The public dashboard is a different Cloud Run target with no authority privileges.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https://docs.cloud.google.com/run/docs/authenticating/overview</a:t>
            </a:r>
          </a:p>
          <a:p xmlns:a="http://schemas.openxmlformats.org/drawingml/2006/main">
            <a:r>
              <a:t>- https://docs.cloud.google.com/run/docs/configuring/services/secrets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explicit: no public Cloud Run URL is claimed in this package, no CPCB snapshot was collected without credentials, and no experimental model is promoted. This honesty strengthens the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system promise: improve the speed and quality of local evidence while keeping accountability with authorities. Invite judges to follow the live demo path in the runbook.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2c114b86f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fd63ed7164634" /><Relationship Type="http://schemas.openxmlformats.org/officeDocument/2006/relationships/slideLayout" Target="/ppt/slideLayouts/slideLayout1.xml" Id="Rf0be51e72799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be51e72799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245dc57c4e9e" /><Relationship Type="http://schemas.openxmlformats.org/officeDocument/2006/relationships/notesSlide" Target="/ppt/notesSlides/notesSlide1.xml" Id="Raee8d9f7fffc4f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0abfb8ff24689" /><Relationship Type="http://schemas.openxmlformats.org/officeDocument/2006/relationships/notesSlide" Target="/ppt/notesSlides/notesSlide2.xml" Id="R122d1dcabd9a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6d276f0464144" /><Relationship Type="http://schemas.openxmlformats.org/officeDocument/2006/relationships/notesSlide" Target="/ppt/notesSlides/notesSlide3.xml" Id="Rcfc17db1e36743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b178f7a8943ba" /><Relationship Type="http://schemas.openxmlformats.org/officeDocument/2006/relationships/notesSlide" Target="/ppt/notesSlides/notesSlide4.xml" Id="R4f44cca5c801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97134f20e43a9" /><Relationship Type="http://schemas.openxmlformats.org/officeDocument/2006/relationships/notesSlide" Target="/ppt/notesSlides/notesSlide5.xml" Id="R60f4ec3589234d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188743f6d4512" /><Relationship Type="http://schemas.openxmlformats.org/officeDocument/2006/relationships/notesSlide" Target="/ppt/notesSlides/notesSlide6.xml" Id="Ra43336a01d3e4c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89d1a4ac44dc9" /><Relationship Type="http://schemas.openxmlformats.org/officeDocument/2006/relationships/notesSlide" Target="/ppt/notesSlides/notesSlide7.xml" Id="R9882dac10d3046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046e7b0d240d4" /><Relationship Type="http://schemas.openxmlformats.org/officeDocument/2006/relationships/notesSlide" Target="/ppt/notesSlides/notesSlide8.xml" Id="R4f53cec0889a4f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c6274982041fd" /><Relationship Type="http://schemas.openxmlformats.org/officeDocument/2006/relationships/notesSlide" Target="/ppt/notesSlides/notesSlide9.xml" Id="R3a5653d92721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f52e3435a4d0a" /><Relationship Type="http://schemas.openxmlformats.org/officeDocument/2006/relationships/notesSlide" Target="/ppt/notesSlides/notesSlide10.xml" Id="R9506378dad0e45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afe7901594d92" /><Relationship Type="http://schemas.openxmlformats.org/officeDocument/2006/relationships/notesSlide" Target="/ppt/notesSlides/notesSlide11.xml" Id="R668e30af093e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FB818-5C38-4B17-858C-3168FCF7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B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73872-F8F1-4A68-905B-68B371B4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1026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16227-B9B3-4903-81FD-303B3697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573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solidFill>
              <a:srgbClr val="078B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D413E-68FD-43B8-B9EE-BDBB8C59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56A"/>
          </a:solidFill>
          <a:ln xmlns:a="http://schemas.openxmlformats.org/drawingml/2006/main" w="0">
            <a:solidFill>
              <a:srgbClr val="55B5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CA53A-BADD-4B5B-BD2A-B555663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009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8781-0DDD-472E-8E7D-FAF41BA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8C9E8"/>
                </a:solidFill>
              </a:defRPr>
            </a:pPr>
            <a:r>
              <a:rPr sz="900" b="1">
                <a:solidFill>
                  <a:srgbClr val="88C9E8"/>
                </a:solidFill>
              </a:rPr>
              <a:t>CLEAN AIR &amp; CLIMATE 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F6DC-1DB1-4A56-B589-1163ECB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AirSentinel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D5BC1-A02A-4179-8023-AE955E96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8C9E8"/>
                </a:solidFill>
              </a:defRPr>
            </a:pPr>
            <a:r>
              <a:rPr sz="2250" b="1">
                <a:solidFill>
                  <a:srgbClr val="88C9E8"/>
                </a:solidFill>
              </a:rPr>
              <a:t>From city signal to locality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AC4FD-43A7-43E4-9530-FF78FEF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81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F4"/>
                </a:solidFill>
              </a:defRPr>
            </a:pPr>
            <a:r>
              <a:rPr sz="1650" b="0">
                <a:solidFill>
                  <a:srgbClr val="D7E7F4"/>
                </a:solidFill>
              </a:rPr>
              <a:t>A human-reviewed, AI-assisted evidence platform for hyper-local pollution detection, short-horizon forecasting and authority coordination.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5CB7F-BE79-40F2-897E-52150F7F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9B549-0BF2-4C5A-85DB-0DFEC17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INDIA-FIRST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43E38-4B30-4054-9E15-8BA530E2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72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50962-9F6A-495C-A8FB-28F457BC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8C9E8"/>
                </a:solidFill>
              </a:defRPr>
            </a:pPr>
            <a:r>
              <a:rPr sz="900" b="1">
                <a:solidFill>
                  <a:srgbClr val="88C9E8"/>
                </a:solidFill>
              </a:rPr>
              <a:t>GOOGLE CLOUD 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AB4CF-5A75-4ED7-88BD-C2B7C5FF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720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959AA-CDA9-4C26-8B75-17CF59C4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291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DEB68"/>
                </a:solidFill>
              </a:defRPr>
            </a:pPr>
            <a:r>
              <a:rPr sz="900" b="1">
                <a:solidFill>
                  <a:srgbClr val="CDEB68"/>
                </a:solidFill>
              </a:rPr>
              <a:t>AUDITABLE BY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AF4B2-EF01-4616-8184-393B80FF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E2"/>
                </a:solidFill>
              </a:defRPr>
            </a:pPr>
            <a:r>
              <a:rPr sz="1200" b="0">
                <a:solidFill>
                  <a:srgbClr val="D8E4E2"/>
                </a:solidFill>
              </a:rPr>
              <a:t>Working prototype • Sustainability track • Submission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2C2F0-21E7-4C24-A24F-07B2939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AIRSentinel  /  2026</a:t>
            </a:r>
          </a:p>
        </p:txBody>
      </p:sp>
    </p:spTree>
    <p:extLst>
      <p:ext uri="{BB962C8B-B14F-4D97-AF65-F5344CB8AC3E}">
        <p14:creationId xmlns:p14="http://schemas.microsoft.com/office/powerpoint/2010/main" val="1849020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85687-0627-4DC0-A761-B8A9627B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21F41-000D-4869-95FB-7A42D2D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2F226-BCDE-4A85-B474-ADD6B6F2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A111B-223B-4279-B031-711A06DA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01 /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9579D-B15C-46FD-845F-49CAAE16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Macro monitoring misses the decision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5FFC6-77E5-43D2-AE1E-1E856D20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The hard part is not drawing another AQI map. It is converting fragmented signals into a defensible, locality-level action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461DC-AF33-40CC-92E4-FDCD773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3B0AA-3984-4891-AA46-189E167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152"/>
          </a:solidFill>
          <a:ln xmlns:a="http://schemas.openxmlformats.org/drawingml/2006/main" w="0">
            <a:solidFill>
              <a:srgbClr val="D761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0D646-4C30-4005-870B-9D27476E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373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50021-0C9D-48DB-8BBB-E847C1D8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Sparse local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49D2B-8742-4F49-ACE0-C5A1B3F0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C7C"/>
                </a:solidFill>
              </a:defRPr>
            </a:pPr>
            <a:r>
              <a:rPr sz="1200" b="0">
                <a:solidFill>
                  <a:srgbClr val="5B6C7C"/>
                </a:solidFill>
              </a:rPr>
              <a:t>City averages hide neighbourhood, village, roadside and industrial-corridor spikes.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C486E-3CB2-4302-951C-4ED2FDB1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D45D0-5448-4BD5-BCA1-0877E2BE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29CDC-1818-4D63-8FA8-945CBDEA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19FE7-D92D-4C29-BDBC-405DBC98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373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AE9F9-F522-473B-8F7D-D83FAA8E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Fragmented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A0C65-86CF-423E-B620-13F3FEC1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C7C"/>
                </a:solidFill>
              </a:defRPr>
            </a:pPr>
            <a:r>
              <a:rPr sz="1200" b="0">
                <a:solidFill>
                  <a:srgbClr val="5B6C7C"/>
                </a:solidFill>
              </a:rPr>
              <a:t>Regulatory monitors, weather, satellite context and citizen reports rarely meet in one review trail.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514C8-B1EB-40C9-8EBC-5D7EB3C5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0D865-6CE2-4AB8-8E78-9A3CA53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9839D-EE6D-4758-ABE7-C19A0C7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solidFill>
              <a:srgbClr val="078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2A5AD-24CB-4F71-9DD7-C756479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373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D5D85-3408-44BC-8678-487B1ADC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Unexpected spikes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0B216-CDF3-4A1E-9FFE-A286B3DD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C7C"/>
                </a:solidFill>
              </a:defRPr>
            </a:pPr>
            <a:r>
              <a:rPr sz="1200" b="0">
                <a:solidFill>
                  <a:srgbClr val="5B6C7C"/>
                </a:solidFill>
              </a:rPr>
              <a:t>Forecasts fail when fires, dust, traffic or local activity create a sudden unobserved event.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C97A8-073A-4FC8-B20B-E1DEB2CF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1016A-0D2B-4276-B0D0-40C9F07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7B749-24E0-4481-ADA2-09C30B9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56A"/>
          </a:solidFill>
          <a:ln xmlns:a="http://schemas.openxmlformats.org/drawingml/2006/main" w="0">
            <a:solidFill>
              <a:srgbClr val="55B5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BC845-C59E-44C8-8060-992A67C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4373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FA5BFC-139A-4800-9447-779D4476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Action-accountability gap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70CFD-3095-44D4-9EA6-2F6FFB13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766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C7C"/>
                </a:solidFill>
              </a:defRPr>
            </a:pPr>
            <a:r>
              <a:rPr sz="1200" b="0">
                <a:solidFill>
                  <a:srgbClr val="5B6C7C"/>
                </a:solidFill>
              </a:rPr>
              <a:t>Authorities need owner, evidence, uncertainty and audit history—not an unexplained model score.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013D1-4EA9-418A-A8BE-791E5A4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01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1471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34AB1-0DB6-499C-AB02-1ED7267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3DDCB-7250-46A0-B7C9-7265FF1A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WORKING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317CA-E105-48FE-A964-9240627E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2C1B8-8673-4887-B90E-44AFC56E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02 / WORKING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40791-A68B-43DD-BBFE-92F9ED4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One evidence-to-action loop, with safety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C97A7-6839-4E28-837A-CDD3D69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Every automated step can assist; none can declare a cause or trigger enforcement by itself.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4FE38-1EF6-441F-9CE0-F455281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C9E8"/>
          </a:solidFill>
          <a:ln xmlns:a="http://schemas.openxmlformats.org/drawingml/2006/main" w="0">
            <a:solidFill>
              <a:srgbClr val="88C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ECD13-1590-4372-BFBA-5F775BC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5238"/>
            <a:ext cx="5524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51C31-BAF2-4926-8710-71939783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Sense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34C1D-978F-44B8-8BFF-09893528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Regulatory/open monitors, weather, citizen text/photo/voice, satellite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AB050-35E4-4D6C-A25D-CC73E2C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0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82F92-244A-4575-BC84-359B2180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7A5"/>
          </a:solidFill>
          <a:ln xmlns:a="http://schemas.openxmlformats.org/drawingml/2006/main" w="0">
            <a:solidFill>
              <a:srgbClr val="32B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A8943-FACF-4944-86D0-9899C2EA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5238"/>
            <a:ext cx="5524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4E5D9-2DA5-4DAD-9087-8CEA51BF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B488A-B8CF-4884-98E2-628321CA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Provenance, freshness, unit checks, coverage and consent/privacy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3CEC2-BFCA-46B9-A395-EED7138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874DE-79E0-4114-9CF5-0DE59483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56A"/>
          </a:solidFill>
          <a:ln xmlns:a="http://schemas.openxmlformats.org/drawingml/2006/main" w="0">
            <a:solidFill>
              <a:srgbClr val="55B5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438B0-74AF-4A8C-9F9A-5CC9194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5238"/>
            <a:ext cx="5524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8669F-56C2-4D4A-8DB6-C1FD587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Predict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1681F-72D1-4F13-8277-ECB39B8D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Conventional 1h / 3h / 4h forecasts plus residual anomaly detection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EAE97-CC6A-4D54-8F7C-2A9B5D2F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CE172-2A53-4F42-8AD1-DB1E7BD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71D7F-9EB9-445C-98D9-E28BB908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5238"/>
            <a:ext cx="5524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FE37B-E024-4AE1-835E-DC07A4E2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48E6F-1940-41C3-A798-CD7C108D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Evidence bundle, uncertainty, recommended checks and assigned 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02878-146C-4280-8B5D-F638E57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D9FCE-0F25-40E2-87B0-51037405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52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152"/>
          </a:solidFill>
          <a:ln xmlns:a="http://schemas.openxmlformats.org/drawingml/2006/main" w="0">
            <a:solidFill>
              <a:srgbClr val="D761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A61DC-960A-40DC-BCFA-6F45F7EE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85238"/>
            <a:ext cx="5524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EEA4E-1DEB-454A-8A3D-1C4047F2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56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Act &amp;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B3557-39AD-4E6B-BB59-DEE0CC9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Human decision, case status, outcome record and model feedback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922CA-5E31-49F5-BC8D-0D8D9C5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A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76356-FBD7-4B3E-B1EB-671A6094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AUTOMATION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7DCDA-4518-4150-AFDC-D9BF26A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863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 automatic source attribution • No automatic enforcement • No official AQI claim from fallback data</a:t>
            </a:r>
          </a:p>
        </p:txBody>
      </p:sp>
    </p:spTree>
    <p:extLst>
      <p:ext uri="{BB962C8B-B14F-4D97-AF65-F5344CB8AC3E}">
        <p14:creationId xmlns:p14="http://schemas.microsoft.com/office/powerpoint/2010/main" val="1622611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DA9FE-3C95-435C-8B4A-77A74DD0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3031-DD47-4C89-8BFC-0961D9AA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DATA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41F04-9024-41F6-9AC7-A1FC7858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329E6-6CFD-4D04-814F-66D9548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03 / DATA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A6E96-EEF5-492F-852F-4CDFEB7B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Best available data—without disguising its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36565-0C46-42A8-B7D3-19EA168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A source hierarchy lets the prototype progress while preserving a clear boundary between official, trusted fallback and citizen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CB564-7FC6-40F8-B8BF-7A191506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56A"/>
          </a:solidFill>
          <a:ln xmlns:a="http://schemas.openxmlformats.org/drawingml/2006/main" w="0">
            <a:solidFill>
              <a:srgbClr val="55B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323DF-A0D8-4A57-B355-8D21581A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1522"/>
            <a:ext cx="495300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AFA45-E60B-441B-AF0C-08F36755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Official / 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72FF1-B9DF-4D8E-851D-B8B0911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CPCB / data.gov.in or authority-approved feeds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4341F-B45E-431E-B7D9-95E066A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6400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EF25B-3606-4B6C-B1AD-AC26699F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596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728"/>
                </a:solidFill>
              </a:defRPr>
            </a:pPr>
            <a:r>
              <a:rPr sz="1125" b="0">
                <a:solidFill>
                  <a:srgbClr val="0A1728"/>
                </a:solidFill>
              </a:rPr>
              <a:t>Use for operational current state after credentials, terms and QA are confirmed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48450-68FD-4270-93FC-DF92F0A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solidFill>
              <a:srgbClr val="078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478E6-7F16-4806-9AC5-9B60C4C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2122"/>
            <a:ext cx="495300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3B69F-FC9A-4C37-92F3-DD40D6DB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Trusted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8F7B9-C868-4D3F-9486-1741989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OpenAQ measurements + documented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E6C4E-358E-42BD-8AD4-CF1E20CA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6400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DCF42-6BC8-4B36-8039-D9E6D6F5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596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728"/>
                </a:solidFill>
              </a:defRPr>
            </a:pPr>
            <a:r>
              <a:rPr sz="1125" b="0">
                <a:solidFill>
                  <a:srgbClr val="0A1728"/>
                </a:solidFill>
              </a:rPr>
              <a:t>Development, backfill and controlled evaluation—not relabelled as official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D2E81-1A05-4321-A4E2-15B52602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C9E8"/>
          </a:solidFill>
          <a:ln xmlns:a="http://schemas.openxmlformats.org/drawingml/2006/main" w="0">
            <a:solidFill>
              <a:srgbClr val="88C9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01322-9D87-4546-BF78-F0286FBE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2722"/>
            <a:ext cx="495300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3B9BA-2B63-4B05-84A2-BF225C6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Context layers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16FD4-F33D-4CFF-A6A3-B0051095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Open-Meteo, Earth Engine Sentinel-5P, Maps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75C5F-3D2C-4F4E-AD27-E13D2934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6400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720F3-36D3-4D0E-856D-A8EA5240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91000"/>
            <a:ext cx="596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728"/>
                </a:solidFill>
              </a:defRPr>
            </a:pPr>
            <a:r>
              <a:rPr sz="1125" b="0">
                <a:solidFill>
                  <a:srgbClr val="0A1728"/>
                </a:solidFill>
              </a:rPr>
              <a:t>Weather, atmospheric and geographic context—not ground-truth replacement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139B4-0B9E-43DE-AEBA-A85B730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1F2BE-5031-4629-9B69-B329C0A3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322"/>
            <a:ext cx="495300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5BA37-332F-4780-96AF-78C45062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Community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CA142-1054-4D54-8CFB-5E2FFA36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34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C7C"/>
                </a:solidFill>
              </a:defRPr>
            </a:pPr>
            <a:r>
              <a:rPr sz="1050" b="0">
                <a:solidFill>
                  <a:srgbClr val="5B6C7C"/>
                </a:solidFill>
              </a:rPr>
              <a:t>Firebase reports, photos, local sensors / purifiers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8AD55-C604-4619-A5C4-BBB91123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10150"/>
            <a:ext cx="6400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498B55-E0EA-4DD5-90B5-AB062237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81600"/>
            <a:ext cx="596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728"/>
                </a:solidFill>
              </a:defRPr>
            </a:pPr>
            <a:r>
              <a:rPr sz="1125" b="0">
                <a:solidFill>
                  <a:srgbClr val="0A1728"/>
                </a:solidFill>
              </a:rPr>
              <a:t>Moderated supporting evidence with consent and device-quality metadata</a:t>
            </a:r>
          </a:p>
        </p:txBody>
      </p:sp>
    </p:spTree>
    <p:extLst>
      <p:ext uri="{BB962C8B-B14F-4D97-AF65-F5344CB8AC3E}">
        <p14:creationId xmlns:p14="http://schemas.microsoft.com/office/powerpoint/2010/main" val="1520143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AF0292-415B-45EC-BD4E-596E07A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019FE-ECEB-45B5-82D3-4531AAEF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DATA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9A573-07C9-4513-A6C6-B14956D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224D7-E4AC-494F-90CC-6FF6B02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04 / DATA IMPROVEMENT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E083C-9D9E-44A2-9AD1-EB04861D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Two blocked Delhi localities now have 180+ day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1E006-0A45-4860-9FEC-8467226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The backfill is suitable for controlled conventional-model comparison. It is still fallback data—not a claim of official local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5B8FA-CB64-4D24-849D-9418E04C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1FEAB-7C54-465B-A2DD-890283FC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8EE06-F53C-4491-B4E3-E6291AA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SAVED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30E09-7A80-4E11-B8C3-BA9BF60A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728"/>
                </a:solidFill>
              </a:defRPr>
            </a:pPr>
            <a:r>
              <a:rPr sz="2250" b="1">
                <a:solidFill>
                  <a:srgbClr val="0A1728"/>
                </a:solidFill>
              </a:rPr>
              <a:t>168,839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11CC7-3372-4D5E-9241-ACB6C640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Six-pollutant OpenAQ-derived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AF724-E204-40EF-BA89-BCAC65D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E5A78-3B3A-42A9-B9A6-9D5B07D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C22D2-C37E-44B0-9C44-39CAFBAF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9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NAJAFGARH PM2.5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AC1BE-ACF0-4AC9-A3DB-5D8818A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728"/>
                </a:solidFill>
              </a:defRPr>
            </a:pPr>
            <a:r>
              <a:rPr sz="2250" b="1">
                <a:solidFill>
                  <a:srgbClr val="0A1728"/>
                </a:solidFill>
              </a:rPr>
              <a:t>7,516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91D60-4AD6-4D45-A755-830E6EF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181.9 days • 86.1% • 2 stations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95ADC-733C-4FF7-8BC5-D72B31F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56CA6-8A80-4EAE-9FF1-7DC64BF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6E404-8B0A-4D40-A626-C2DF20A8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SAFDARJUNG PM2.5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BF30B-FC2D-4394-84E0-18BE2E57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728"/>
                </a:solidFill>
              </a:defRPr>
            </a:pPr>
            <a:r>
              <a:rPr sz="2250" b="1">
                <a:solidFill>
                  <a:srgbClr val="0A1728"/>
                </a:solidFill>
              </a:rPr>
              <a:t>7,889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00E13-AD4F-4356-934C-0EE81F4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181.9 days • 90.4% • 2 stations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3E805-00D8-4B93-9D70-9AC1F144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E6BAC-BD92-4E9D-9336-45FA87DD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POLLUTANT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63389-62BF-42E9-95DC-096C0431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75FE0-8E3E-4B8E-8974-6E903D76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PM2.5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78862-8F10-46B3-BAF1-5ABDB8C8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053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A599B-4BE2-489C-824D-1E0EB64F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76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PM10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69DC43-B392-41EA-BD8E-C521D52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5D596-6669-4C72-A123-C5D7827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76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NO₂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4298F3-807B-4CBC-B99B-91DE9B21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053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25768-3D82-4268-9B84-69A00585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76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O₃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58627-DE4C-4844-8FEE-6A9F12A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053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BE308-E15C-45B5-813B-DE5A558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76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SO₂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6B2ED6-871A-45FB-A561-EAC97B4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053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F9ABF1-74D9-490D-868B-B7474D1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76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CO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4AE3DE-2BCF-40A5-BFAA-1C2FC8B6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B56A"/>
                </a:solidFill>
              </a:defRPr>
            </a:pPr>
            <a:r>
              <a:rPr sz="1125" b="1">
                <a:solidFill>
                  <a:srgbClr val="55B56A"/>
                </a:solidFill>
              </a:rPr>
              <a:t>Gate passed: long-history conventional comparison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413A4D-528A-4AA6-8A6F-A793A1F2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816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6152"/>
                </a:solidFill>
              </a:defRPr>
            </a:pPr>
            <a:r>
              <a:rPr sz="1050" b="1">
                <a:solidFill>
                  <a:srgbClr val="D76152"/>
                </a:solidFill>
              </a:rPr>
              <a:t>Still required: approved source, live freshness, unit QA and human operational sign-off</a:t>
            </a:r>
          </a:p>
        </p:txBody>
      </p:sp>
    </p:spTree>
    <p:extLst>
      <p:ext uri="{BB962C8B-B14F-4D97-AF65-F5344CB8AC3E}">
        <p14:creationId xmlns:p14="http://schemas.microsoft.com/office/powerpoint/2010/main" val="146377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88E56-CA72-4C59-90A8-997F19E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841E3-37A3-4EF8-90F0-1446C2C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FORECAST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253ED-FB4B-4382-8FFA-5119B61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E84B7-9FC8-42B1-A850-7C505C8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05 /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5ABC5-C52E-432A-A50A-F86AB38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Forecast what is knowable; flag what is surprising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5155A-C20B-4EA2-8996-70A51100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AirSentinel combines short-horizon conventional models with residual-based anomaly review so a sudden spike becomes a case—not a silent failure.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EEB4A-C9CD-430E-9DB2-C11C639B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C18A7-F345-4976-9078-87E4735A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C521B-ACA8-45BA-846D-7241B9E5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B83"/>
                </a:solidFill>
              </a:defRPr>
            </a:pPr>
            <a:r>
              <a:rPr sz="750" b="1">
                <a:solidFill>
                  <a:srgbClr val="078B83"/>
                </a:solidFill>
              </a:rPr>
              <a:t>FORECAST 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DDB1C-FFDE-4259-806B-323E899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1h • 3h • 4h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B7DE-9D84-41C2-9996-4375C92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9146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Lagged pollutants + weather + time features. Models are evaluated chronologically and include empirical uncertainty intervals.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C319A-D321-4AB4-9A28-3C151E14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85607-70DF-4AE6-8D06-11580F2C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9F19D-808A-4F39-A86F-2698334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288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942"/>
                </a:solidFill>
              </a:defRPr>
            </a:pPr>
            <a:r>
              <a:rPr sz="750" b="1">
                <a:solidFill>
                  <a:srgbClr val="F4B942"/>
                </a:solidFill>
              </a:rPr>
              <a:t>ANOMALY 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3D9A2-555B-4E08-936F-60A03A66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765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Observed − expected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E38D3-9ADC-4235-AFE7-F6765291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57500"/>
            <a:ext cx="29146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Large robust residuals trigger an unexpected-spike review. Nearby stations, weather and moderated reports are requested.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A6071-E6DA-43EB-AC82-CFC728F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20ADD-30D2-440C-9273-6F70489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88314-CEE5-4E55-ACA4-BB716F54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5B56A"/>
                </a:solidFill>
              </a:defRPr>
            </a:pPr>
            <a:r>
              <a:rPr sz="750" b="1">
                <a:solidFill>
                  <a:srgbClr val="55B56A"/>
                </a:solidFill>
              </a:rPr>
              <a:t>DECISION 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99553-7023-461B-965C-7FBEF2F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Human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2F1E6-7E6D-4B0E-BBDA-113479A5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9146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The case remains cause-unverified until corroborated. Recommended actions are checks, not automated enforcement.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B03A2-E72B-48A9-AAA5-4F7FBB02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A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30714-AB77-4ADE-A3CA-6DBA67A9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MODEL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F7DEA-A9CA-4904-BACA-961F9794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880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Promote the best validated conventional baseline first. Do not present experimental deep or federated approaches as deployed capability.</a:t>
            </a:r>
          </a:p>
        </p:txBody>
      </p:sp>
    </p:spTree>
    <p:extLst>
      <p:ext uri="{BB962C8B-B14F-4D97-AF65-F5344CB8AC3E}">
        <p14:creationId xmlns:p14="http://schemas.microsoft.com/office/powerpoint/2010/main" val="1300691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723586-94FA-4E8B-908E-7EFBB060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4D498-8C8D-4F4F-BFE1-F87DA568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GOOGLE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D7DBC-8A42-4B67-A442-F33FCA68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539BF-7053-4667-9C4F-51EA325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06 / GOOGLE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95668-37AF-40B0-BB24-092679A1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Each required Google service has a real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7909C-6036-4E2B-8944-A9F0857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The repository contains feature-gated adapters, security boundaries and deployment scripts. Account provisioning and live credentials remain owner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256F9-B336-4510-88F5-1ADA9EC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19812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A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2F64-8835-4DBA-9AAC-397B4B2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8C9E8"/>
                </a:solidFill>
              </a:defRPr>
            </a:pPr>
            <a:r>
              <a:rPr sz="2250" b="1">
                <a:solidFill>
                  <a:srgbClr val="88C9E8"/>
                </a:solidFill>
              </a:rPr>
              <a:t>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1A550-4C04-4D29-BF32-61ACACAF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SENTINEL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7DD62-9A9B-415F-AEF4-F13552D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E4E2"/>
                </a:solidFill>
              </a:defRPr>
            </a:pPr>
            <a:r>
              <a:rPr sz="825" b="1">
                <a:solidFill>
                  <a:srgbClr val="D8E4E2"/>
                </a:solidFill>
              </a:rPr>
              <a:t>guarded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549FF-146B-4E2C-8F18-A8FCC3B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848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ABDDD-EE6F-45B3-A607-549C6ADE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99A4F-1844-4D52-9FD2-D13E111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942"/>
                </a:solidFill>
              </a:defRPr>
            </a:pPr>
            <a:r>
              <a:rPr sz="750" b="1">
                <a:solidFill>
                  <a:srgbClr val="F4B942"/>
                </a:solidFill>
              </a:rPr>
              <a:t>INPUT /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55558-6490-4CAC-B0B3-5AE8C93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Firebase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A54ED-56F2-43AD-B2A5-FBB4784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543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Citizen report intake, auth and protected media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C955C-4247-4AD3-85CB-57C0B616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848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0E97F-9728-4956-A5C6-0EEAC5FD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E94BA-DE2F-4216-9A52-DB748A42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B83"/>
                </a:solidFill>
              </a:defRPr>
            </a:pPr>
            <a:r>
              <a:rPr sz="750" b="1">
                <a:solidFill>
                  <a:srgbClr val="078B83"/>
                </a:solidFill>
              </a:rPr>
              <a:t>DATA / AI /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5009B-1800-48D3-8D22-41E54FB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BigQuery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5BB63-7564-461B-8150-71948C62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3543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Provenance-aware analytical history and model input tables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28A00-A499-43FC-A2E1-0838EF3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05075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E4048-3BF3-49C5-B41D-484B6DBB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05075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10F7B-F489-4AE7-9B7C-41FCB75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848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26676-BF2A-47D6-AD3C-DE2A715C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E3AF8-831B-48F5-9C85-3CD24CB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8C9E8"/>
                </a:solidFill>
              </a:defRPr>
            </a:pPr>
            <a:r>
              <a:rPr sz="750" b="1">
                <a:solidFill>
                  <a:srgbClr val="88C9E8"/>
                </a:solidFill>
              </a:rPr>
              <a:t>INPUT /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64D50-A254-4F28-B100-6764D88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Maps + Earth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ADE44-FC50-4CBB-B90A-E8AF217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543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Locality context, corridors and Sentinel-5P atmospheric layers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FE636-0910-4A78-8B72-71F08BE5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848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EB3B5-4CD4-4F27-B54D-F5831539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83EF83-310F-48AB-88B7-E5A260E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DEB68"/>
                </a:solidFill>
              </a:defRPr>
            </a:pPr>
            <a:r>
              <a:rPr sz="750" b="1">
                <a:solidFill>
                  <a:srgbClr val="CDEB68"/>
                </a:solidFill>
              </a:rPr>
              <a:t>DATA / AI / 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1229F-0C76-4C34-8B4A-62012FA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Gemini multimodal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2B10AD-7899-4A15-97BF-8734F4C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3543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Guarded photo evidence summary and case explanation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92D75-3008-48F9-8030-D261B846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43325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5F4AD-01FC-43F8-BF91-2A64CD1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43325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6714D4-B8E5-49AE-89CF-EC2B1044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848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CD4BE7-2C79-418D-9706-350A3B1F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920FFC-F0AE-4EF8-A540-6801DC2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5B56A"/>
                </a:solidFill>
              </a:defRPr>
            </a:pPr>
            <a:r>
              <a:rPr sz="750" b="1">
                <a:solidFill>
                  <a:srgbClr val="55B56A"/>
                </a:solidFill>
              </a:rPr>
              <a:t>INPUT / CONTEXT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FECA74-AE9C-4E25-9E83-AB3B0855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Speech + Translation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4B6373-5368-4FE2-96FA-D5F2923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3543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Accessible multilingual reporting and read-back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7C1C7-9196-412F-8461-89070B9C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3848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1F556-A2B3-4459-8D37-7635633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62DC25-2CA5-4D85-8F2B-407642B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6152"/>
                </a:solidFill>
              </a:defRPr>
            </a:pPr>
            <a:r>
              <a:rPr sz="750" b="1">
                <a:solidFill>
                  <a:srgbClr val="D76152"/>
                </a:solidFill>
              </a:rPr>
              <a:t>DATA / AI / RUNTIME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7D7AA9-063C-4E9C-8B3D-B7340B3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Cloud Run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543A9C-16EA-422D-902E-D889F98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76850"/>
            <a:ext cx="3543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Private API + authority; separate public aggregate UI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1721FD-5ED6-4F5F-AFC5-D5B64BD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81575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B58A8D-CBEF-4153-BBF8-42F0D959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1575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7819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16BF4-544B-45F8-946A-6BF2CC0E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CCFE6-B2B7-4DDC-8BF2-5B24A180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CITIZEN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42E6F-2DB9-49A4-96D5-4D79DBC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C20C3-22A6-4082-8778-2814AD52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07 / CITIZEN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6E7D3-BD2B-41CD-B0D1-2FB9DC71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Accessible reporting—without turning people into unverified sensors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7B92C-02F2-4354-B2C4-213481DA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Text, photo and voice reports support investigation when consent, moderation, privacy and device metadata travel with the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A63FE-8C3B-4675-91EA-6CEED854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52675" cy="3105150"/>
          </a:xfrm>
          <a:prstGeom xmlns:a="http://schemas.openxmlformats.org/drawingml/2006/main" prst="roundRect">
            <a:avLst>
              <a:gd name="adj" fmla="val 4858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15BB9-7811-4EAF-90AD-61D2E23C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5267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8D990-7A0D-40CF-BB11-98B782F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8B83"/>
                </a:solidFill>
              </a:defRPr>
            </a:pPr>
            <a:r>
              <a:rPr sz="825" b="1">
                <a:solidFill>
                  <a:srgbClr val="078B83"/>
                </a:solidFill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41493-B106-4BC5-A9B7-5D269AB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971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728"/>
                </a:solidFill>
              </a:defRPr>
            </a:pPr>
            <a:r>
              <a:rPr sz="1575" b="1">
                <a:solidFill>
                  <a:srgbClr val="0A1728"/>
                </a:solidFill>
              </a:rPr>
              <a:t>Text • photo • 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675B0-0A6E-46ED-9F0E-895076B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C7C"/>
                </a:solidFill>
              </a:defRPr>
            </a:pPr>
            <a:r>
              <a:rPr sz="1125" b="0">
                <a:solidFill>
                  <a:srgbClr val="5B6C7C"/>
                </a:solidFill>
              </a:rPr>
              <a:t>Firebase Auth identifies the reporter. Exact contact details are redacted from analytical copies.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A884E-E747-4DBC-A040-285CE5F8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2352675" cy="3105150"/>
          </a:xfrm>
          <a:prstGeom xmlns:a="http://schemas.openxmlformats.org/drawingml/2006/main" prst="roundRect">
            <a:avLst>
              <a:gd name="adj" fmla="val 4858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76E53-19A7-4AF1-8E39-D865E4B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235267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AB86D-2146-4DE8-975C-3EA297D4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1935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89C14-5057-402A-847C-DD59B223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1971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728"/>
                </a:solidFill>
              </a:defRPr>
            </a:pPr>
            <a:r>
              <a:rPr sz="1575" b="1">
                <a:solidFill>
                  <a:srgbClr val="0A1728"/>
                </a:solidFill>
              </a:rPr>
              <a:t>Gemini • STT • Translation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B4AED-DB39-4505-89DB-9CABD91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0045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C7C"/>
                </a:solidFill>
              </a:defRPr>
            </a:pPr>
            <a:r>
              <a:rPr sz="1125" b="0">
                <a:solidFill>
                  <a:srgbClr val="5B6C7C"/>
                </a:solidFill>
              </a:rPr>
              <a:t>AI extracts a bounded summary and accessibility support. Unsafe or unavailable providers fail closed.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49B80-BD85-4F99-B1D0-556F4E8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2352675" cy="3105150"/>
          </a:xfrm>
          <a:prstGeom xmlns:a="http://schemas.openxmlformats.org/drawingml/2006/main" prst="roundRect">
            <a:avLst>
              <a:gd name="adj" fmla="val 4858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6E9AE-34BB-46DA-B53E-F6A4EFB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235267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F3CDF-26CA-4C80-841F-9CBFAC5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B56A"/>
                </a:solidFill>
              </a:defRPr>
            </a:pPr>
            <a:r>
              <a:rPr sz="825" b="1">
                <a:solidFill>
                  <a:srgbClr val="55B56A"/>
                </a:solidFill>
              </a:rPr>
              <a:t>CORROBORATE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50813-23F6-4620-A352-7CBAB410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1971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728"/>
                </a:solidFill>
              </a:defRPr>
            </a:pPr>
            <a:r>
              <a:rPr sz="1575" b="1">
                <a:solidFill>
                  <a:srgbClr val="0A1728"/>
                </a:solidFill>
              </a:rPr>
              <a:t>Sensors • weather • satellite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23888-D5CB-47EF-A1A3-7659D34B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C7C"/>
                </a:solidFill>
              </a:defRPr>
            </a:pPr>
            <a:r>
              <a:rPr sz="1125" b="0">
                <a:solidFill>
                  <a:srgbClr val="5B6C7C"/>
                </a:solidFill>
              </a:rPr>
              <a:t>A report gains weight only when timing, location and independent signals agree.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2C5EB-0FD2-4D4B-A604-4633E52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33600"/>
            <a:ext cx="2352675" cy="3105150"/>
          </a:xfrm>
          <a:prstGeom xmlns:a="http://schemas.openxmlformats.org/drawingml/2006/main" prst="roundRect">
            <a:avLst>
              <a:gd name="adj" fmla="val 4858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28A7F-429F-4442-AC42-EAB2F5F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33600"/>
            <a:ext cx="235267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4E38D-5519-4939-98BD-0115149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1935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E3365-2411-4A32-87C0-02555276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1971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728"/>
                </a:solidFill>
              </a:defRPr>
            </a:pPr>
            <a:r>
              <a:rPr sz="1575" b="1">
                <a:solidFill>
                  <a:srgbClr val="0A1728"/>
                </a:solidFill>
              </a:rPr>
              <a:t>Moderator • authority 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44D85-01F9-4E13-B55F-A5D1B0A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0045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C7C"/>
                </a:solidFill>
              </a:defRPr>
            </a:pPr>
            <a:r>
              <a:rPr sz="1125" b="0">
                <a:solidFill>
                  <a:srgbClr val="5B6C7C"/>
                </a:solidFill>
              </a:rPr>
              <a:t>Human reviewers verify evidence, record uncertainty and choose the next check.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9E6D2-7A6B-4F0D-9E66-088D64FA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6152"/>
                </a:solidFill>
              </a:defRPr>
            </a:pPr>
            <a:r>
              <a:rPr sz="1350" b="1">
                <a:solidFill>
                  <a:srgbClr val="D76152"/>
                </a:solidFill>
              </a:rPr>
              <a:t>Citizen evidence can reveal a blind spot; it cannot by itself prove AQI, cause or culpability.</a:t>
            </a:r>
          </a:p>
        </p:txBody>
      </p:sp>
    </p:spTree>
    <p:extLst>
      <p:ext uri="{BB962C8B-B14F-4D97-AF65-F5344CB8AC3E}">
        <p14:creationId xmlns:p14="http://schemas.microsoft.com/office/powerpoint/2010/main" val="1867517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9C2719-87E0-4665-903A-7F110E70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BDDF8-2771-46EE-BD09-6E228529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AUTHORITY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C82A1-380E-4446-9C92-631253FC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36B95-96ED-4FDD-A873-F7813EBE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08 / GOVERNMENT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6307C-B185-45D4-8EF9-392D0EFA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A case queue built for accountable intervention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1EDF8-2751-4123-91DC-934077AA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Authority users see evidence quality, forecast uncertainty and recommended verification steps before they record any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3ED4E-AE23-4419-81EC-B1291C1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335FC-0C14-4B8C-AA8D-2A6EE64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152"/>
          </a:solidFill>
          <a:ln xmlns:a="http://schemas.openxmlformats.org/drawingml/2006/main" w="0">
            <a:solidFill>
              <a:srgbClr val="D761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7F016-977E-45A2-AA94-AC3D0D5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3744"/>
            <a:ext cx="51435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728"/>
                </a:solidFill>
              </a:defRPr>
            </a:pPr>
            <a:r>
              <a:rPr sz="1200" b="1">
                <a:solidFill>
                  <a:srgbClr val="0A1728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ADB0-1ADA-4D12-898F-BEC7EDA2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9721B-C518-4AA3-93E6-70A122A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priority + locality + freshness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81417-67D8-45D8-A8CA-BEA26821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4795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28D03-FB5E-423C-BC72-3370715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8E57C-6C20-48BC-B671-A05134D5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3744"/>
            <a:ext cx="51435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728"/>
                </a:solidFill>
              </a:defRPr>
            </a:pPr>
            <a:r>
              <a:rPr sz="1200" b="1">
                <a:solidFill>
                  <a:srgbClr val="0A1728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EC4B4-7255-4BA6-88B9-75E5A37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Corroborate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C5CE7-AA12-4513-98E3-4100CCAE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nearby station + weather +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B461D-F24F-4528-83B0-53A8FE73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A7CAA-95F8-49B8-80A4-496B026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solidFill>
              <a:srgbClr val="078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2D3C5-3352-4DB8-BC4D-CA99DE56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23744"/>
            <a:ext cx="51435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728"/>
                </a:solidFill>
              </a:defRPr>
            </a:pPr>
            <a:r>
              <a:rPr sz="1200" b="1">
                <a:solidFill>
                  <a:srgbClr val="0A1728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B4175-B1BE-4068-B539-B1A8AEC4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Assign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C695E-EBCC-4945-B941-FD7D115F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named owner + due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D210D-3576-4807-8A4B-40BC68B0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DB2BD-06C8-4D9A-89DA-AAECEAA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56A"/>
          </a:solidFill>
          <a:ln xmlns:a="http://schemas.openxmlformats.org/drawingml/2006/main" w="0">
            <a:solidFill>
              <a:srgbClr val="55B5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8B2CB-35EF-47F7-A39F-3F49653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23744"/>
            <a:ext cx="51435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728"/>
                </a:solidFill>
              </a:defRPr>
            </a:pPr>
            <a:r>
              <a:rPr sz="1200" b="1">
                <a:solidFill>
                  <a:srgbClr val="0A1728"/>
                </a:solidFill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B622E-ECBF-4452-8618-ED2F8D5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Decide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FDF99-C077-4739-890E-E70471D9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monitor / inspect / coordinate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95570-AA67-4336-B721-5711784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2578E-360F-4FD4-A46F-C900355F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C9E8"/>
          </a:solidFill>
          <a:ln xmlns:a="http://schemas.openxmlformats.org/drawingml/2006/main" w="0">
            <a:solidFill>
              <a:srgbClr val="88C9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F719E-0FF4-4B1A-A5AD-2063F10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23744"/>
            <a:ext cx="51435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728"/>
                </a:solidFill>
              </a:defRPr>
            </a:pPr>
            <a:r>
              <a:rPr sz="1200" b="1">
                <a:solidFill>
                  <a:srgbClr val="0A1728"/>
                </a:solidFill>
              </a:rPr>
              <a:t>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AC2AD-F6DD-4812-931C-FC8E0C9F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Close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86D14-F707-4AE6-A51C-8C510435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outcome + evidence + model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35712-50C7-4406-A48B-82C89529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9DA16-EFC6-4789-84AF-DC24A5B1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PRIVATE IAM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91B99-EDBA-4FC9-B58A-ED65B6C4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0535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3D719D-F88B-4F4C-939A-549FED8B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HUMAN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3AF9FA-A955-4140-924F-CE68860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9EBEAA-BBD0-48CF-ADF5-83B3939A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62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1728"/>
                </a:solidFill>
              </a:defRPr>
            </a:pPr>
            <a:r>
              <a:rPr sz="825" b="1">
                <a:solidFill>
                  <a:srgbClr val="0A1728"/>
                </a:solidFill>
              </a:rPr>
              <a:t>AUDIT TRAIL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EE2CB3-74AC-427B-9FE5-EF5D71B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C7C"/>
                </a:solidFill>
              </a:defRPr>
            </a:pPr>
            <a:r>
              <a:rPr sz="1125" b="1">
                <a:solidFill>
                  <a:srgbClr val="5B6C7C"/>
                </a:solidFill>
              </a:rPr>
              <a:t>Public dashboard = aggregate information only</a:t>
            </a:r>
          </a:p>
        </p:txBody>
      </p:sp>
    </p:spTree>
    <p:extLst>
      <p:ext uri="{BB962C8B-B14F-4D97-AF65-F5344CB8AC3E}">
        <p14:creationId xmlns:p14="http://schemas.microsoft.com/office/powerpoint/2010/main" val="11006889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0940E4-961F-4B0E-B213-E1FB49C1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24196-6A97-4416-8373-BB91F36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A562-B797-4FED-9F2B-3BD49A4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0817-CF0C-4DD6-BD50-A4BA845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B83"/>
                </a:solidFill>
              </a:defRPr>
            </a:pPr>
            <a:r>
              <a:rPr sz="900" b="1">
                <a:solidFill>
                  <a:srgbClr val="078B83"/>
                </a:solidFill>
              </a:rPr>
              <a:t>09 /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2AA58-F58B-4860-8B84-A7F8DFE2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Built, verified and honest about what remains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8ED6D-ECAB-49DE-8ECB-B16C0030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C7C"/>
                </a:solidFill>
              </a:defRPr>
            </a:pPr>
            <a:r>
              <a:rPr sz="1275" b="0">
                <a:solidFill>
                  <a:srgbClr val="5B6C7C"/>
                </a:solidFill>
              </a:rPr>
              <a:t>The package separates repository-complete work from account-bound deployment and approval tasks.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679C5-3EE8-46B7-A62F-543EF8CE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19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68985-6BAC-432D-B537-2B01C1C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E0BBF-A59D-4966-9526-1FD94A2C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OFFLINE SAFETY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9C790-5248-4FA1-BE2A-4D599B6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728"/>
                </a:solidFill>
              </a:defRPr>
            </a:pPr>
            <a:r>
              <a:rPr sz="2250" b="1">
                <a:solidFill>
                  <a:srgbClr val="0A1728"/>
                </a:solidFill>
              </a:rPr>
              <a:t>38 / 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96F1C-D2BD-4ED6-9BDB-F1DADD0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Includes real ASGI request-boundary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78D0C-DF5A-4B12-B764-C406205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38350"/>
            <a:ext cx="3219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9DFFC-AE48-4C35-B63F-D2756ADC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38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C16CC-9D9D-4D72-94F9-03D850A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098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LOCALITY HORIZONS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C798D-A393-4428-8FEB-DEFE4D40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728"/>
                </a:solidFill>
              </a:defRPr>
            </a:pPr>
            <a:r>
              <a:rPr sz="2250" b="1">
                <a:solidFill>
                  <a:srgbClr val="0A1728"/>
                </a:solidFill>
              </a:rPr>
              <a:t>1h • 3h • 4h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08524-E36E-43D0-9DA2-2B154E34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33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Chronological evaluation + intervals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3FA95-D2A2-4755-A9FB-65BD7EC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219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3671E-0C6D-4BA1-8447-8239173F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24A25-00AE-4777-94F7-C7F38C5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C7C"/>
                </a:solidFill>
              </a:defRPr>
            </a:pPr>
            <a:r>
              <a:rPr sz="825" b="1">
                <a:solidFill>
                  <a:srgbClr val="5B6C7C"/>
                </a:solidFill>
              </a:rPr>
              <a:t>OPERATIONAL PROMOTION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5A650-67AF-430C-8B71-82B559DD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728"/>
                </a:solidFill>
              </a:defRPr>
            </a:pPr>
            <a:r>
              <a:rPr sz="2250" b="1">
                <a:solidFill>
                  <a:srgbClr val="0A1728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2C798-AD5F-46C8-9B3D-EBA9AE4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C7C"/>
                </a:solidFill>
              </a:defRPr>
            </a:pPr>
            <a:r>
              <a:rPr sz="975" b="0">
                <a:solidFill>
                  <a:srgbClr val="5B6C7C"/>
                </a:solidFill>
              </a:rPr>
              <a:t>Until approved live data and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A5401-9592-4486-8EBB-9D74938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8B83"/>
                </a:solidFill>
              </a:defRPr>
            </a:pPr>
            <a:r>
              <a:rPr sz="825" b="1">
                <a:solidFill>
                  <a:srgbClr val="078B83"/>
                </a:solidFill>
              </a:rPr>
              <a:t>REPOSITORY-COMPLETE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DEF50-9B86-4252-B6A4-B5BFE1E4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data collectors and source hierarchy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citizen, public and authority apps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guarded Google adapters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Docker / Cloud Run deployment scripts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docs, runbook and submission 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C97CF-FE40-4F61-8830-59C52A8A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6152"/>
                </a:solidFill>
              </a:defRPr>
            </a:pPr>
            <a:r>
              <a:rPr sz="825" b="1">
                <a:solidFill>
                  <a:srgbClr val="D76152"/>
                </a:solidFill>
              </a:rPr>
              <a:t>OWNER / ACCOUNT-BOUND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239CF-2C82-4BDE-8490-685BD336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create billed GCP project and approved identities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provide CPCB/data.gov access and secrets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enable APIs, deploy Cloud Run and test URLs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push GitHub repository</a:t>
            </a:r>
          </a:p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• record the 3–5 minute demo</a:t>
            </a:r>
          </a:p>
        </p:txBody>
      </p:sp>
    </p:spTree>
    <p:extLst>
      <p:ext uri="{BB962C8B-B14F-4D97-AF65-F5344CB8AC3E}">
        <p14:creationId xmlns:p14="http://schemas.microsoft.com/office/powerpoint/2010/main" val="1131237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085D5-9D56-4EC0-B72F-4C920D20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7454F-FCE2-491F-97F9-CC0F1EC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CB525-21D9-4DF9-AFD4-0CB2C47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81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C7C"/>
                </a:solidFill>
              </a:defRPr>
            </a:pPr>
            <a:r>
              <a:rPr sz="750" b="1">
                <a:solidFill>
                  <a:srgbClr val="5B6C7C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9D88-2A75-479D-8ECF-AB45D7CE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8C9E8"/>
                </a:solidFill>
              </a:defRPr>
            </a:pPr>
            <a:r>
              <a:rPr sz="900" b="1">
                <a:solidFill>
                  <a:srgbClr val="88C9E8"/>
                </a:solidFill>
              </a:rPr>
              <a:t>READY FOR THE FINAL MILE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F2DB1-70B1-40E1-846F-D1D6A9D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 practical clean-air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decision-support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A6CC6-94D4-413D-B863-B3FD6768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4E2"/>
                </a:solidFill>
              </a:defRPr>
            </a:pPr>
            <a:r>
              <a:rPr sz="1725" b="0">
                <a:solidFill>
                  <a:srgbClr val="D8E4E2"/>
                </a:solidFill>
              </a:rPr>
              <a:t>Locality evidence. Short-horizon warning. Human-reviewed government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827F7-6E47-4FDF-AD58-CDC702AE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56A"/>
          </a:solidFill>
          <a:ln xmlns:a="http://schemas.openxmlformats.org/drawingml/2006/main" w="0">
            <a:solidFill>
              <a:srgbClr val="55B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B273D-9644-4693-9005-5E101E51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483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1728"/>
                </a:solidFill>
              </a:defRPr>
            </a:pPr>
            <a:r>
              <a:rPr sz="1050" b="1">
                <a:solidFill>
                  <a:srgbClr val="0A172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B83EC-5186-4537-AED2-1E53018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Connect approved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0D99D-61FD-429A-8620-29F8AE2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C9E8"/>
                </a:solidFill>
              </a:defRPr>
            </a:pPr>
            <a:r>
              <a:rPr sz="1125" b="0">
                <a:solidFill>
                  <a:srgbClr val="88C9E8"/>
                </a:solidFill>
              </a:rPr>
              <a:t>CPCB/data.gov or authority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4A8F3-2443-43D0-AD61-A635750B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7A5"/>
          </a:solidFill>
          <a:ln xmlns:a="http://schemas.openxmlformats.org/drawingml/2006/main" w="0">
            <a:solidFill>
              <a:srgbClr val="32B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3A7E0-D473-4CA4-ABCD-A09B54BA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588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1728"/>
                </a:solidFill>
              </a:defRPr>
            </a:pPr>
            <a:r>
              <a:rPr sz="1050" b="1">
                <a:solidFill>
                  <a:srgbClr val="0A172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AA291-BC82-4EA0-855C-BF7B7868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Deploy securely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A869D-72FA-4390-B886-501FC1FD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C9E8"/>
                </a:solidFill>
              </a:defRPr>
            </a:pPr>
            <a:r>
              <a:rPr sz="1125" b="0">
                <a:solidFill>
                  <a:srgbClr val="88C9E8"/>
                </a:solidFill>
              </a:rPr>
              <a:t>private API + authority, public aggregate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3CD15-8E0C-4DE8-ABB2-5E328629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6A2E2-95AA-4E25-B386-AFC0355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6934"/>
            <a:ext cx="419100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1728"/>
                </a:solidFill>
              </a:defRPr>
            </a:pPr>
            <a:r>
              <a:rPr sz="1050" b="1">
                <a:solidFill>
                  <a:srgbClr val="0A172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9E16B-1F96-4336-B585-4118A9FA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Submit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D4976-7EF9-4A07-9A18-32856DB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C9E8"/>
                </a:solidFill>
              </a:defRPr>
            </a:pPr>
            <a:r>
              <a:rPr sz="1125" b="0">
                <a:solidFill>
                  <a:srgbClr val="88C9E8"/>
                </a:solidFill>
              </a:rPr>
              <a:t>GitHub • demo video • 10–12 slide deck •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3B6B2-3F9D-4686-ACA9-3B6B960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57250"/>
            <a:ext cx="2381250" cy="4476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AC0C1-29B2-4728-8483-82BDF6F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THE 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0E29A-EEFB-47CD-AA7F-01D36343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Faster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local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B4639-41DB-4EF3-8FE4-841E725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1543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B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25069-4CEF-4CED-9BA0-74E8A4B5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DEB68"/>
                </a:solidFill>
              </a:defRPr>
            </a:pPr>
            <a:r>
              <a:rPr sz="2025" b="1">
                <a:solidFill>
                  <a:srgbClr val="CDEB68"/>
                </a:solidFill>
              </a:rPr>
              <a:t>Safer</a:t>
            </a:r>
          </a:p>
          <a:p xmlns:a="http://schemas.openxmlformats.org/drawingml/2006/main">
            <a:pPr algn="ctr">
              <a:defRPr sz="2025" b="1">
                <a:solidFill>
                  <a:srgbClr val="CDEB68"/>
                </a:solidFill>
              </a:defRPr>
            </a:pPr>
            <a:r>
              <a:rPr sz="2025" b="1">
                <a:solidFill>
                  <a:srgbClr val="CDEB68"/>
                </a:solidFill>
              </a:rPr>
              <a:t>automation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33FB0-BC9A-4EF5-B83E-0F3894F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E4E2"/>
                </a:solidFill>
              </a:defRPr>
            </a:pPr>
            <a:r>
              <a:rPr sz="1200" b="1">
                <a:solidFill>
                  <a:srgbClr val="D8E4E2"/>
                </a:solidFill>
              </a:rPr>
              <a:t>More accountable</a:t>
            </a:r>
          </a:p>
          <a:p xmlns:a="http://schemas.openxmlformats.org/drawingml/2006/main">
            <a:pPr algn="ctr">
              <a:defRPr sz="1200" b="1">
                <a:solidFill>
                  <a:srgbClr val="D8E4E2"/>
                </a:solidFill>
              </a:defRPr>
            </a:pPr>
            <a:r>
              <a:rPr sz="1200" b="1">
                <a:solidFill>
                  <a:srgbClr val="D8E4E2"/>
                </a:solidFill>
              </a:rPr>
              <a:t>climate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C6892-2685-4127-A4FE-5E0AE5A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C9E8"/>
                </a:solidFill>
              </a:defRPr>
            </a:pPr>
            <a:r>
              <a:rPr sz="825" b="1">
                <a:solidFill>
                  <a:srgbClr val="88C9E8"/>
                </a:solidFill>
              </a:rPr>
              <a:t>AIRSentinel  /  Sustainability  /  2026</a:t>
            </a:r>
          </a:p>
        </p:txBody>
      </p:sp>
    </p:spTree>
    <p:extLst>
      <p:ext uri="{BB962C8B-B14F-4D97-AF65-F5344CB8AC3E}">
        <p14:creationId xmlns:p14="http://schemas.microsoft.com/office/powerpoint/2010/main" val="1684488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2026-08-25T20:12:58.5960000Z</dcterms:created>
  <dcterms:modified xsi:type="dcterms:W3CDTF">2026-08-25T20:12:58.5960000Z</dcterms:modified>
</coreProperties>
</file>